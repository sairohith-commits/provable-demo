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828800"/>
            <a:ext cx="5669280" cy="566928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291840"/>
            <a:ext cx="4754880" cy="4754880"/>
          </a:xfrm>
          <a:prstGeom prst="ellipse">
            <a:avLst/>
          </a:prstGeom>
          <a:solidFill>
            <a:srgbClr val="3A2A7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143000"/>
            <a:ext cx="914400" cy="914400"/>
          </a:xfrm>
          <a:prstGeom prst="ellipse">
            <a:avLst/>
          </a:prstGeom>
          <a:solidFill>
            <a:srgbClr val="11244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3898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ROVO AI AGENTS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2402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Architecture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Board (ARB)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943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AI-Powered Solution Architecture Reviews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709160"/>
            <a:ext cx="164592" cy="164592"/>
          </a:xfrm>
          <a:prstGeom prst="ellipse">
            <a:avLst/>
          </a:prstGeom>
          <a:solidFill>
            <a:srgbClr val="17C1DE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709160"/>
            <a:ext cx="164592" cy="164592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1" name="Shape 8"/>
          <p:cNvSpPr/>
          <p:nvPr/>
        </p:nvSpPr>
        <p:spPr>
          <a:xfrm>
            <a:off x="1179576" y="4709160"/>
            <a:ext cx="164592" cy="164592"/>
          </a:xfrm>
          <a:prstGeom prst="ellipse">
            <a:avLst/>
          </a:prstGeom>
          <a:solidFill>
            <a:srgbClr val="17C1DE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5074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submission to board approval — powered by specialized Rovo AI agents that capture knowledge from Cybersecurity, Infrastructure, Application Development, Data Security &amp; Privacy, and the Risk Office.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0" y="5897880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7C5C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0" y="5897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Office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ARB Reviews Need Automation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911096"/>
            <a:ext cx="713232" cy="713232"/>
          </a:xfrm>
          <a:prstGeom prst="ellipse">
            <a:avLst/>
          </a:prstGeom>
          <a:solidFill>
            <a:srgbClr val="1E2A5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41" y="2103669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5623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Time-Consuming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258568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take 3–6 weeks. Teams submit via email, SharePoint, or ad-hoc meetings with no standard workflow.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1336" y="1911096"/>
            <a:ext cx="713232" cy="713232"/>
          </a:xfrm>
          <a:prstGeom prst="ellipse">
            <a:avLst/>
          </a:prstGeom>
          <a:solidFill>
            <a:srgbClr val="1E2A5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908" y="2103669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3168" y="185623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Evidence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3168" y="2258568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reviewers apply different standards. Security, infrastructure, and data are evaluated independently.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3447288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3758184"/>
            <a:ext cx="713232" cy="713232"/>
          </a:xfrm>
          <a:prstGeom prst="ellipse">
            <a:avLst/>
          </a:prstGeom>
          <a:solidFill>
            <a:srgbClr val="1E2A5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41" y="3950757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70332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Silos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105656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is locked in individuals. No institutional capture of past decisions or reusable review criteria.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8728" y="3447288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1336" y="3758184"/>
            <a:ext cx="713232" cy="713232"/>
          </a:xfrm>
          <a:prstGeom prst="ellipse">
            <a:avLst/>
          </a:prstGeom>
          <a:solidFill>
            <a:srgbClr val="1E2A5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908" y="3950757"/>
            <a:ext cx="328087" cy="328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3168" y="3703320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13168" y="4105656"/>
            <a:ext cx="3855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tracking misses regulatory checkpoints across GDPR, PCI-DSS, and internal risk frameworks.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94360" y="5806440"/>
            <a:ext cx="11002975" cy="713232"/>
          </a:xfrm>
          <a:prstGeom prst="roundRect">
            <a:avLst>
              <a:gd name="adj" fmla="val 10256"/>
            </a:avLst>
          </a:prstGeom>
          <a:solidFill>
            <a:srgbClr val="0A133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68680" y="58064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ARB cycle time: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weeks</a:t>
            </a:r>
            <a:pPr indent="0" marL="0">
              <a:buNone/>
            </a:pPr>
            <a:r>
              <a:rPr lang="en-US" sz="14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Submissions needing resubmission: </a:t>
            </a:r>
            <a:pPr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pPr indent="0" marL="0">
              <a:buNone/>
            </a:pPr>
            <a:r>
              <a:rPr lang="en-US" sz="14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Annual rework cost: </a:t>
            </a:r>
            <a:pPr indent="0" marL="0">
              <a:buNone/>
            </a:pPr>
            <a:r>
              <a:rPr lang="en-US" sz="1450" b="1" dirty="0">
                <a:solidFill>
                  <a:srgbClr val="27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~$240K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94360" y="65471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illustrative of a typical enterprise ARB; replace with client baseline.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Rovo AI Agents for ARB Automation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of specialized Rovo AI agents embedded in Jira manages the complete ARB lifecycle — from intake and evidence validation, through domain-specific technical reviews, to the final board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2276856"/>
            <a:ext cx="548640" cy="54864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9" y="2424989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898648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" y="31546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submission package completeness before review begins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09112" y="2057400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8568" y="2276856"/>
            <a:ext cx="548640" cy="548640"/>
          </a:xfrm>
          <a:prstGeom prst="ellipse">
            <a:avLst/>
          </a:prstGeom>
          <a:solidFill>
            <a:srgbClr val="F052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701" y="2424989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0280" y="2898648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0280" y="31546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all security controls — WAF, logging, secrets, IAM, network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23864" y="2057400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3320" y="2276856"/>
            <a:ext cx="548640" cy="54864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452" y="242498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5032" y="2898648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Reviewer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5032" y="31546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Assesses backup, disaster recovery, and patching resilience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038615" y="2057400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58071" y="2276856"/>
            <a:ext cx="548640" cy="548640"/>
          </a:xfrm>
          <a:prstGeom prst="ellipse">
            <a:avLst/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204" y="2424989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9783" y="2898648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Reviewer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239783" y="31546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residency, PII handling, retention, and classification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4360" y="3648456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13816" y="3867912"/>
            <a:ext cx="548640" cy="54864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016045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5528" y="4489704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Design Reviewer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95528" y="4745736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tech-stack fit, architecture patterns, integration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409112" y="3648456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28568" y="386791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701" y="4016045"/>
            <a:ext cx="252374" cy="25237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10280" y="4489704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Reviewer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610280" y="4745736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PDF diagrams natively; qualitative design assessment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223864" y="3648456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43320" y="386791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452" y="4016045"/>
            <a:ext cx="252374" cy="25237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25032" y="4489704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ARB Agent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425032" y="4745736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every agent and produces the unified board report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9038615" y="3648456"/>
            <a:ext cx="2558720" cy="1481328"/>
          </a:xfrm>
          <a:prstGeom prst="roundRect">
            <a:avLst>
              <a:gd name="adj" fmla="val 3704"/>
            </a:avLst>
          </a:prstGeom>
          <a:solidFill>
            <a:srgbClr val="12303A"/>
          </a:solidFill>
          <a:ln w="15875">
            <a:solidFill>
              <a:srgbClr val="17C1D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58071" y="3867912"/>
            <a:ext cx="548640" cy="54864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6204" y="4016045"/>
            <a:ext cx="252374" cy="25237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39783" y="4489704"/>
            <a:ext cx="21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Customizable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9239783" y="4745736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F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retire, or re-scope agents and point them at your own standards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594360" y="5440680"/>
            <a:ext cx="11002975" cy="868680"/>
          </a:xfrm>
          <a:prstGeom prst="roundRect">
            <a:avLst>
              <a:gd name="adj" fmla="val 8421"/>
            </a:avLst>
          </a:prstGeom>
          <a:solidFill>
            <a:srgbClr val="1E2C5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50392" y="560527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525" y="5753405"/>
            <a:ext cx="252374" cy="25237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554480" y="544068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agents are a starting point, not a fixed set.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reviewer's logic, scoring rules, and knowledge sources (Confluence pages, checklists, standards docs) are configured to your environment — drop in a new domain reviewer or repoint an agent without rebuilding the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 Review State Machine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 from Evidence Review — a manual SME lane and an automated AI lane — converging on one board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3072384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8794A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072384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48840" y="3072384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3072384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3429000"/>
            <a:ext cx="292608" cy="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8620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4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8620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84448" y="3246120"/>
            <a:ext cx="411480" cy="-141732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84448" y="3611880"/>
            <a:ext cx="411480" cy="141732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73736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24336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17373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2093976"/>
            <a:ext cx="274320" cy="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73736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24336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7373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1–6 in parallel + SME sign-off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60920" y="2093976"/>
            <a:ext cx="274320" cy="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35240" y="173736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24336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173736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52560" y="2093976"/>
            <a:ext cx="868680" cy="86868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69080" y="4892040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9080" y="49469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AI 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52578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4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pipeline: Evidence → Security → Infra → Data Gov → Standards → Architecture → Master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9052560" y="5248656"/>
            <a:ext cx="868680" cy="-868680"/>
          </a:xfrm>
          <a:prstGeom prst="line">
            <a:avLst/>
          </a:prstGeom>
          <a:noFill/>
          <a:ln w="25400">
            <a:solidFill>
              <a:srgbClr val="7C879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0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04120" y="27432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058400" y="36118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052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04120" y="361188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12680" y="4370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paths converge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48840" y="489204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1B264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194560" y="4892040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52928" y="4892040"/>
            <a:ext cx="0" cy="-1078992"/>
          </a:xfrm>
          <a:prstGeom prst="line">
            <a:avLst/>
          </a:prstGeom>
          <a:noFill/>
          <a:ln w="25400">
            <a:solidFill>
              <a:srgbClr val="9AA6C8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14400" y="4983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resubmit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48840" y="5248656"/>
            <a:ext cx="-320040" cy="0"/>
          </a:xfrm>
          <a:prstGeom prst="line">
            <a:avLst/>
          </a:prstGeom>
          <a:noFill/>
          <a:ln w="25400">
            <a:solidFill>
              <a:srgbClr val="9AA6C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58400" y="489204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6B748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04120" y="489204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817352" y="4325112"/>
            <a:ext cx="0" cy="548640"/>
          </a:xfrm>
          <a:prstGeom prst="line">
            <a:avLst/>
          </a:prstGeom>
          <a:noFill/>
          <a:ln w="25400">
            <a:solidFill>
              <a:srgbClr val="9AA6C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4360" y="6355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7C1DE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AI-Automated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307946" y="6355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43363"/>
          </a:solidFill>
          <a:ln/>
        </p:spPr>
      </p:sp>
      <p:sp>
        <p:nvSpPr>
          <p:cNvPr id="44" name="Text 42"/>
          <p:cNvSpPr/>
          <p:nvPr/>
        </p:nvSpPr>
        <p:spPr>
          <a:xfrm>
            <a:off x="2582266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05656" y="6355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C5CFF"/>
          </a:solidFill>
          <a:ln/>
        </p:spPr>
      </p:sp>
      <p:sp>
        <p:nvSpPr>
          <p:cNvPr id="46" name="Text 44"/>
          <p:cNvSpPr/>
          <p:nvPr/>
        </p:nvSpPr>
        <p:spPr>
          <a:xfrm>
            <a:off x="4379976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735117" y="6355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7C281"/>
          </a:solidFill>
          <a:ln/>
        </p:spPr>
      </p:sp>
      <p:sp>
        <p:nvSpPr>
          <p:cNvPr id="48" name="Text 46"/>
          <p:cNvSpPr/>
          <p:nvPr/>
        </p:nvSpPr>
        <p:spPr>
          <a:xfrm>
            <a:off x="6009437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112203" y="63550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0524B"/>
          </a:solidFill>
          <a:ln/>
        </p:spPr>
      </p:sp>
      <p:sp>
        <p:nvSpPr>
          <p:cNvPr id="50" name="Text 48"/>
          <p:cNvSpPr/>
          <p:nvPr/>
        </p:nvSpPr>
        <p:spPr>
          <a:xfrm>
            <a:off x="7386523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PROCESS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Submission to Approval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017715" cy="4526280"/>
          </a:xfrm>
          <a:prstGeom prst="roundRect">
            <a:avLst>
              <a:gd name="adj" fmla="val 2719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7458" y="1856232"/>
            <a:ext cx="731520" cy="73152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7458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Submission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3749040"/>
            <a:ext cx="16519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team submits via the Jira ARB Request form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docs, data flows, threat models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brief &amp; business case attached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99" y="3291840"/>
            <a:ext cx="237744" cy="2377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40675" y="1600200"/>
            <a:ext cx="2017715" cy="4526280"/>
          </a:xfrm>
          <a:prstGeom prst="roundRect">
            <a:avLst>
              <a:gd name="adj" fmla="val 2719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773" y="1856232"/>
            <a:ext cx="731520" cy="73152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83773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932115" y="26974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77835" y="2990088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 Review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41843" y="3749040"/>
            <a:ext cx="16519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 agent validates completeness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artifacts flagged automatically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moves to Evidence Review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814" y="3291840"/>
            <a:ext cx="237744" cy="2377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086990" y="1600200"/>
            <a:ext cx="2017715" cy="4526280"/>
          </a:xfrm>
          <a:prstGeom prst="roundRect">
            <a:avLst>
              <a:gd name="adj" fmla="val 2719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30088" y="1856232"/>
            <a:ext cx="731520" cy="73152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730088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178430" y="26974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224150" y="2990088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Pipeline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288158" y="3749040"/>
            <a:ext cx="16519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specialist agents run in sequence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→ Infra → Data → Standards → Arch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emits a structured, scored report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129" y="3291840"/>
            <a:ext cx="237744" cy="23774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33305" y="1600200"/>
            <a:ext cx="2017715" cy="4526280"/>
          </a:xfrm>
          <a:prstGeom prst="roundRect">
            <a:avLst>
              <a:gd name="adj" fmla="val 2719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76403" y="1856232"/>
            <a:ext cx="731520" cy="731520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976403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424745" y="26974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470465" y="2990088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Validation (manual path)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534473" y="3749040"/>
            <a:ext cx="16519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SMEs review in parallel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raised, evidence requested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cycles tracked in Jira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444" y="3291840"/>
            <a:ext cx="237744" cy="237744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579620" y="1600200"/>
            <a:ext cx="2017715" cy="4526280"/>
          </a:xfrm>
          <a:prstGeom prst="roundRect">
            <a:avLst>
              <a:gd name="adj" fmla="val 2719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22718" y="1856232"/>
            <a:ext cx="731520" cy="731520"/>
          </a:xfrm>
          <a:prstGeom prst="ellipse">
            <a:avLst/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10222718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671060" y="26974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7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9716780" y="2990088"/>
            <a:ext cx="17433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Review &amp; Approval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9780788" y="3749040"/>
            <a:ext cx="16519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ARB agent consolidates findings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gets a unified risk/compliance view</a:t>
            </a:r>
            <a:endParaRPr lang="en-US" sz="1000" dirty="0"/>
          </a:p>
          <a:p>
            <a:pPr marL="152400" indent="-1524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/ Rejected with full audit trail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DOMAINS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Encoded into Rovo Agents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5429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56232"/>
            <a:ext cx="603504" cy="603504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38" y="2019178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Team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6968" y="2560320"/>
            <a:ext cx="2951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&amp; STRIDE analysis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 alignment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assessment standards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key management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compliance checkpoints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8698" y="1600200"/>
            <a:ext cx="345429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4730" y="1856232"/>
            <a:ext cx="603504" cy="603504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76" y="20191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8818" y="19659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Team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1306" y="2560320"/>
            <a:ext cx="2951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&amp; DR requirements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patterns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segmentation rules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&amp; scaling thresholds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&amp; RTO/RPO standards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43037" y="1600200"/>
            <a:ext cx="345429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9069" y="1856232"/>
            <a:ext cx="603504" cy="603504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015" y="2019178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03157" y="19659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Dev Team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35645" y="2560320"/>
            <a:ext cx="2951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API standards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&amp; tech-stack review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compliance checkpoints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&amp; integration patterns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requirements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481529" y="4041648"/>
            <a:ext cx="345429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37561" y="4297680"/>
            <a:ext cx="603504" cy="603504"/>
          </a:xfrm>
          <a:prstGeom prst="ellipse">
            <a:avLst/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507" y="4460626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41649" y="4407408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&amp; Privacy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2774137" y="5001768"/>
            <a:ext cx="2951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&amp; tagging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 CCPA / HIPAA controls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 documentation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handling procedures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deletion policies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55868" y="4041648"/>
            <a:ext cx="3454298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11900" y="4297680"/>
            <a:ext cx="603504" cy="603504"/>
          </a:xfrm>
          <a:prstGeom prst="ellipse">
            <a:avLst/>
          </a:prstGeom>
          <a:solidFill>
            <a:srgbClr val="F5A623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846" y="4460626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15988" y="4407408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Office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548476" y="5001768"/>
            <a:ext cx="29513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alignment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effectiveness scoring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risk acceptance thresholds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change impact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requirements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7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 of ARB Automation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45004" cy="1874520"/>
          </a:xfrm>
          <a:prstGeom prst="roundRect">
            <a:avLst>
              <a:gd name="adj" fmla="val 2927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118" y="17922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267712"/>
            <a:ext cx="25450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2926080"/>
            <a:ext cx="254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cycle time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13684" y="1554480"/>
            <a:ext cx="2545004" cy="1874520"/>
          </a:xfrm>
          <a:prstGeom prst="roundRect">
            <a:avLst>
              <a:gd name="adj" fmla="val 2927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442" y="1792224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13684" y="2267712"/>
            <a:ext cx="25450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3413684" y="2926080"/>
            <a:ext cx="254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reviews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per quarter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45004" cy="1874520"/>
          </a:xfrm>
          <a:prstGeom prst="roundRect">
            <a:avLst>
              <a:gd name="adj" fmla="val 2927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765" y="179222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3008" y="2267712"/>
            <a:ext cx="25450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C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6233008" y="2926080"/>
            <a:ext cx="254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052331" y="1554480"/>
            <a:ext cx="2545004" cy="1874520"/>
          </a:xfrm>
          <a:prstGeom prst="roundRect">
            <a:avLst>
              <a:gd name="adj" fmla="val 2927"/>
            </a:avLst>
          </a:prstGeom>
          <a:solidFill>
            <a:srgbClr val="182549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089" y="1792224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331" y="2267712"/>
            <a:ext cx="25450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9052331" y="2926080"/>
            <a:ext cx="254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intake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3703320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1E2C5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32104" y="3931920"/>
            <a:ext cx="457200" cy="457200"/>
          </a:xfrm>
          <a:prstGeom prst="ellipse">
            <a:avLst/>
          </a:prstGeom>
          <a:solidFill>
            <a:srgbClr val="26346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05536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84962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Knowledge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463040" y="417880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expertise permanently encoded — survives staff turnover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78728" y="3703320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1E2C5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516472" y="3931920"/>
            <a:ext cx="457200" cy="457200"/>
          </a:xfrm>
          <a:prstGeom prst="ellipse">
            <a:avLst/>
          </a:prstGeom>
          <a:solidFill>
            <a:srgbClr val="26346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916" y="4055364"/>
            <a:ext cx="210312" cy="2103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47408" y="384962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Compliance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7147408" y="417880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review applies the same security, privacy, and risk rubric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94360" y="4892040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1E2C5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104" y="5120640"/>
            <a:ext cx="457200" cy="457200"/>
          </a:xfrm>
          <a:prstGeom prst="ellipse">
            <a:avLst/>
          </a:prstGeom>
          <a:solidFill>
            <a:srgbClr val="26346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" y="5244084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63040" y="503834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Transparency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1463040" y="536752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 visibility into the ARB pipeline, decisions, and trends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278728" y="4892040"/>
            <a:ext cx="5318608" cy="914400"/>
          </a:xfrm>
          <a:prstGeom prst="roundRect">
            <a:avLst>
              <a:gd name="adj" fmla="val 6000"/>
            </a:avLst>
          </a:prstGeom>
          <a:solidFill>
            <a:srgbClr val="1E2C57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516472" y="5120640"/>
            <a:ext cx="457200" cy="457200"/>
          </a:xfrm>
          <a:prstGeom prst="ellipse">
            <a:avLst/>
          </a:prstGeom>
          <a:solidFill>
            <a:srgbClr val="26346A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9916" y="5244084"/>
            <a:ext cx="210312" cy="21031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47408" y="5038344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7147408" y="536752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accelerates; domain SMEs retain final decision authority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ARB — One Pattern, Many Workflows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engine behind ARB — intake form, evidence gate, specialist agents, orchestrated decision — applies to any structured review or approval process.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0A133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386584"/>
            <a:ext cx="558698" cy="0"/>
          </a:xfrm>
          <a:prstGeom prst="line">
            <a:avLst/>
          </a:prstGeom>
          <a:noFill/>
          <a:ln w="3175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84778" y="20574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0A133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4778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16498" y="2386584"/>
            <a:ext cx="558698" cy="0"/>
          </a:xfrm>
          <a:prstGeom prst="line">
            <a:avLst/>
          </a:prstGeom>
          <a:noFill/>
          <a:ln w="3175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75197" y="20574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0A133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5197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06917" y="2386584"/>
            <a:ext cx="558698" cy="0"/>
          </a:xfrm>
          <a:prstGeom prst="line">
            <a:avLst/>
          </a:prstGeom>
          <a:noFill/>
          <a:ln w="31750">
            <a:solidFill>
              <a:srgbClr val="7C5C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65615" y="205740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0A1330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5615" y="205740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Decision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154680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" y="3392424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3540557"/>
            <a:ext cx="252374" cy="2523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08760" y="3374136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/ Third-Party Risk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0392" y="393192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data, and contractual review of new suppliers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68698" y="3154680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06442" y="3392424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75" y="3540557"/>
            <a:ext cx="252374" cy="25237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83098" y="3374136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Advisory Board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624730" y="393192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Risk-scored evaluation of production change requests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143037" y="3154680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380781" y="3392424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914" y="3540557"/>
            <a:ext cx="252374" cy="25237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057437" y="3374136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Request Reviews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399069" y="393192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checks on elevated or sensitive access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94360" y="4727448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32104" y="496519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7" y="5113325"/>
            <a:ext cx="252374" cy="25237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08760" y="494690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Exception Handling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850392" y="55046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review and time-boxing of policy exceptions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368698" y="4727448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606442" y="496519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575" y="5113325"/>
            <a:ext cx="252374" cy="25237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83098" y="494690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Data-Sharing Requests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4624730" y="55046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residency, and DPA checks before sharing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143037" y="4727448"/>
            <a:ext cx="345429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380781" y="4965192"/>
            <a:ext cx="548640" cy="548640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914" y="5113325"/>
            <a:ext cx="252374" cy="25237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57437" y="494690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Intake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399069" y="5504688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and routing of new software &amp; service requests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94360" y="6080760"/>
            <a:ext cx="11002975" cy="548640"/>
          </a:xfrm>
          <a:prstGeom prst="roundRect">
            <a:avLst>
              <a:gd name="adj" fmla="val 13333"/>
            </a:avLst>
          </a:prstGeom>
          <a:solidFill>
            <a:srgbClr val="0A1330"/>
          </a:solidFill>
          <a:ln/>
        </p:spPr>
      </p:sp>
      <p:sp>
        <p:nvSpPr>
          <p:cNvPr id="47" name="Text 39"/>
          <p:cNvSpPr/>
          <p:nvPr/>
        </p:nvSpPr>
        <p:spPr>
          <a:xfrm>
            <a:off x="594360" y="608076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framework once — each new workflow is configuration, not a new project.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Plan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10454335" cy="0"/>
          </a:xfrm>
          <a:prstGeom prst="line">
            <a:avLst/>
          </a:prstGeom>
          <a:noFill/>
          <a:ln w="25400">
            <a:solidFill>
              <a:srgbClr val="C2C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8846" y="1837944"/>
            <a:ext cx="256032" cy="256032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331720"/>
            <a:ext cx="2545004" cy="566928"/>
          </a:xfrm>
          <a:prstGeom prst="roundRect">
            <a:avLst>
              <a:gd name="adj" fmla="val 9677"/>
            </a:avLst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3317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Weeks 1–4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2545004" cy="2907792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15468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Evidence Gate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" y="393192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ARB project setup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Gate agent deployed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form &amp; templates live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3 app teams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58170" y="1837944"/>
            <a:ext cx="256032" cy="256032"/>
          </a:xfrm>
          <a:prstGeom prst="ellipse">
            <a:avLst/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3684" y="2331720"/>
            <a:ext cx="2545004" cy="566928"/>
          </a:xfrm>
          <a:prstGeom prst="roundRect">
            <a:avLst>
              <a:gd name="adj" fmla="val 9677"/>
            </a:avLst>
          </a:prstGeom>
          <a:solidFill>
            <a:srgbClr val="7C5C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3684" y="23317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·  Weeks 5–10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13684" y="2990088"/>
            <a:ext cx="2545004" cy="2907792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96564" y="315468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 Go Live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69716" y="393192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Reviewer agent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Reviewer agent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Reviewer agent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validation workflows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77493" y="1837944"/>
            <a:ext cx="256032" cy="256032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2331720"/>
            <a:ext cx="2545004" cy="566928"/>
          </a:xfrm>
          <a:prstGeom prst="roundRect">
            <a:avLst>
              <a:gd name="adj" fmla="val 9677"/>
            </a:avLst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33008" y="23317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·  Weeks 11–14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3008" y="2990088"/>
            <a:ext cx="2545004" cy="2907792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5888" y="315468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Standards Agents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89040" y="393192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Reviewer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Design Reviewer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ARB orchestrator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workflow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96817" y="1837944"/>
            <a:ext cx="256032" cy="256032"/>
          </a:xfrm>
          <a:prstGeom prst="ellipse">
            <a:avLst/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331" y="2331720"/>
            <a:ext cx="2545004" cy="566928"/>
          </a:xfrm>
          <a:prstGeom prst="roundRect">
            <a:avLst>
              <a:gd name="adj" fmla="val 9677"/>
            </a:avLst>
          </a:prstGeom>
          <a:solidFill>
            <a:srgbClr val="27C281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52331" y="2331720"/>
            <a:ext cx="2545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 ·  Weeks 15–18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52331" y="2990088"/>
            <a:ext cx="2545004" cy="2907792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35211" y="3154680"/>
            <a:ext cx="217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2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Scale-Out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08363" y="3931920"/>
            <a:ext cx="20878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 dashboard &amp; reporting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tracking &amp; trend analysis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to all business units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model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65760"/>
            <a:ext cx="4572000" cy="4572000"/>
          </a:xfrm>
          <a:prstGeom prst="ellipse">
            <a:avLst/>
          </a:prstGeom>
          <a:solidFill>
            <a:srgbClr val="12224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2C216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ARB Reviews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869680" y="1234440"/>
            <a:ext cx="2194560" cy="2194560"/>
          </a:xfrm>
          <a:prstGeom prst="ellipse">
            <a:avLst/>
          </a:prstGeom>
          <a:solidFill>
            <a:srgbClr val="12224C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2211" y="1826971"/>
            <a:ext cx="1009498" cy="10094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ARB Automation initiative &amp; assign a project sponsor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94360" y="3831336"/>
            <a:ext cx="457200" cy="45720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38313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the Jira configuration sprint with the Platform team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94360" y="4507992"/>
            <a:ext cx="457200" cy="45720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45079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3 pilot application teams for Phase 1 onboarding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94360" y="5184648"/>
            <a:ext cx="457200" cy="457200"/>
          </a:xfrm>
          <a:prstGeom prst="ellipse">
            <a:avLst/>
          </a:prstGeom>
          <a:solidFill>
            <a:srgbClr val="17C1DE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1846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Rovo agent training sessions with domain SMEs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94360" y="6053328"/>
            <a:ext cx="11002975" cy="566928"/>
          </a:xfrm>
          <a:prstGeom prst="roundRect">
            <a:avLst>
              <a:gd name="adj" fmla="val 12903"/>
            </a:avLst>
          </a:prstGeom>
          <a:solidFill>
            <a:srgbClr val="15224A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6053328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7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agents don’t replace your architects — they amplify their expertise at scale.”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ARB with Jira Rovo AI Agents</dc:title>
  <dc:subject>PptxGenJS Presentation</dc:subject>
  <dc:creator>Enterprise Architecture Office</dc:creator>
  <cp:lastModifiedBy>Enterprise Architecture Office</cp:lastModifiedBy>
  <cp:revision>1</cp:revision>
  <dcterms:created xsi:type="dcterms:W3CDTF">2026-06-14T21:40:24Z</dcterms:created>
  <dcterms:modified xsi:type="dcterms:W3CDTF">2026-06-14T21:40:24Z</dcterms:modified>
</cp:coreProperties>
</file>